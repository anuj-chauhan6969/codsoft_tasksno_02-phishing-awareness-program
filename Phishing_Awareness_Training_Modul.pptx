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58368"/>
            <a:ext cx="2926080" cy="347472"/>
          </a:xfrm>
          <a:prstGeom prst="round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85800"/>
            <a:ext cx="2926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37D3D2"/>
                </a:solidFill>
                <a:latin typeface="Aptos"/>
              </a:rPr>
              <a:t>CYBERSECURITY AWARENESS  |  09 SLIDES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675120" cy="1508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3800" b="1">
                <a:solidFill>
                  <a:srgbClr val="F5F8FC"/>
                </a:solidFill>
                <a:latin typeface="Aptos"/>
              </a:rPr>
              <a:t>PHISHING
WITHOUT THE TRAP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063240"/>
            <a:ext cx="6035040" cy="8229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800" b="0">
                <a:solidFill>
                  <a:srgbClr val="AAB8CC"/>
                </a:solidFill>
                <a:latin typeface="Aptos"/>
              </a:rPr>
              <a:t>Learn to spot suspicious messages, fake login pages,
and social engineering before it costs you.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143000"/>
            <a:ext cx="3611880" cy="4343400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49640" y="1554480"/>
            <a:ext cx="182880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7000" b="1">
                <a:solidFill>
                  <a:srgbClr val="F55B5B"/>
                </a:solidFill>
                <a:latin typeface="Aptos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971800"/>
            <a:ext cx="3154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3000" b="1">
                <a:solidFill>
                  <a:srgbClr val="37D3D2"/>
                </a:solidFill>
                <a:latin typeface="Aptos"/>
              </a:rPr>
              <a:t>CLICK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3566160"/>
            <a:ext cx="315468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3000" b="1">
                <a:solidFill>
                  <a:srgbClr val="F5F8FC"/>
                </a:solidFill>
                <a:latin typeface="Aptos"/>
              </a:rPr>
              <a:t>SMART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572000"/>
            <a:ext cx="31546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0">
                <a:solidFill>
                  <a:srgbClr val="AAB8CC"/>
                </a:solidFill>
                <a:latin typeface="Aptos"/>
              </a:rPr>
              <a:t>Pause  |  Inspect  |  Verify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6510528"/>
            <a:ext cx="6400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AAB8CC"/>
                </a:solidFill>
                <a:latin typeface="Aptos"/>
              </a:rPr>
              <a:t>PHISHING AWARENESS  |  CYBERSECURITY TRAINING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510528"/>
            <a:ext cx="33375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37D3D2"/>
                </a:solidFill>
                <a:latin typeface="Aptos"/>
              </a:rPr>
              <a:t>Pause. Inspect. Verify.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01  What is phishing?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698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Attackers create trust + urgency + a fake destination.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200" b="1">
                <a:solidFill>
                  <a:srgbClr val="37D3D2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3429000" cy="1874519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673351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55B5B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636776"/>
            <a:ext cx="26060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THE BAIT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167128"/>
            <a:ext cx="3026664" cy="10515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AB8CC"/>
                </a:solidFill>
                <a:latin typeface="Aptos"/>
              </a:rPr>
              <a:t>A message appears to come from a trusted person, company, bank, delivery service, or 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08760"/>
            <a:ext cx="3429000" cy="1874519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73351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7BF4A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1636776"/>
            <a:ext cx="26060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THE HOOK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67128"/>
            <a:ext cx="3026664" cy="10515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AB8CC"/>
                </a:solidFill>
                <a:latin typeface="Aptos"/>
              </a:rPr>
              <a:t>You are pushed to click, open an attachment, reveal information, or make a payment.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3" y="1508760"/>
            <a:ext cx="3429000" cy="1874519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673351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37D3D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9952" y="1636776"/>
            <a:ext cx="26060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THE 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167128"/>
            <a:ext cx="3026664" cy="10515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AB8CC"/>
                </a:solidFill>
                <a:latin typeface="Aptos"/>
              </a:rPr>
              <a:t>Credentials, money, access, or sensitive information may be stolen or misused.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10890504" cy="1417320"/>
          </a:xfrm>
          <a:prstGeom prst="round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50208"/>
            <a:ext cx="150876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55B5B"/>
                </a:solidFill>
                <a:latin typeface="Aptos"/>
              </a:rPr>
              <a:t>PHISHING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840480"/>
            <a:ext cx="45720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100" b="1">
                <a:solidFill>
                  <a:srgbClr val="F5F8FC"/>
                </a:solidFill>
                <a:latin typeface="Aptos"/>
              </a:rPr>
              <a:t>"Something feels urgent — act now!"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4370832"/>
            <a:ext cx="7955279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Pressure is often intentional. Slow down and verify through a trusted channel.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510528"/>
            <a:ext cx="6400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AAB8CC"/>
                </a:solidFill>
                <a:latin typeface="Aptos"/>
              </a:rPr>
              <a:t>PHISHING AWARENESS  |  CYBERSECURITY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510528"/>
            <a:ext cx="33375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37D3D2"/>
                </a:solidFill>
                <a:latin typeface="Aptos"/>
              </a:rPr>
              <a:t>Pause. Inspect. Verify.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02  Spot a suspicious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698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Use the S.T.O.P. check before clicking.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200" b="1">
                <a:solidFill>
                  <a:srgbClr val="37D3D2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5212080" cy="1737360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78308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>
                <a:solidFill>
                  <a:srgbClr val="F55B5B"/>
                </a:solidFill>
                <a:latin typeface="Aptos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3736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Sender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12848"/>
            <a:ext cx="388620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Check the full address, not only the display name.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212080" cy="1737360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78308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>
                <a:solidFill>
                  <a:srgbClr val="F7BF4A"/>
                </a:solidFill>
                <a:latin typeface="Aptos"/>
              </a:rPr>
              <a:t>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173736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Tone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212848"/>
            <a:ext cx="388620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Urgency, threats, rewards, or unusual requests are warning signs.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94760"/>
            <a:ext cx="5212080" cy="1737360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1832" y="402336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>
                <a:solidFill>
                  <a:srgbClr val="37D3D2"/>
                </a:solidFill>
                <a:latin typeface="Aptos"/>
              </a:rPr>
              <a:t>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97764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Offer / link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453128"/>
            <a:ext cx="388620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Hover over links. Look for unexpected domains or mismatched destinations.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794760"/>
            <a:ext cx="5212080" cy="1737360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23360"/>
            <a:ext cx="548640" cy="5486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400" b="1">
                <a:solidFill>
                  <a:srgbClr val="43CC84"/>
                </a:solidFill>
                <a:latin typeface="Aptos"/>
              </a:rPr>
              <a:t>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977640"/>
            <a:ext cx="18288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700" b="1">
                <a:solidFill>
                  <a:srgbClr val="F5F8FC"/>
                </a:solidFill>
                <a:latin typeface="Aptos"/>
              </a:rPr>
              <a:t>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4453128"/>
            <a:ext cx="3886200" cy="6858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Verify independently using the official app, website, or known contact.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6510528"/>
            <a:ext cx="6400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AAB8CC"/>
                </a:solidFill>
                <a:latin typeface="Aptos"/>
              </a:rPr>
              <a:t>PHISHING AWARENESS  |  CYBERSECURITY TRAINING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6510528"/>
            <a:ext cx="33375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37D3D2"/>
                </a:solidFill>
                <a:latin typeface="Aptos"/>
              </a:rPr>
              <a:t>Pause. Inspect. Verify.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03  Fake login pages &amp; fraudulent websites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698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The page can look perfect. The URL is often the giveaway.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200" b="1">
                <a:solidFill>
                  <a:srgbClr val="37D3D2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6583680" cy="4389120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9202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55B5B"/>
                </a:solidFill>
                <a:latin typeface="Aptos"/>
              </a:rPr>
              <a:t>FAKE LOGIN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148840"/>
            <a:ext cx="6035040" cy="2971800"/>
          </a:xfrm>
          <a:prstGeom prst="round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95728"/>
            <a:ext cx="52120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[lock] accounts-secure.example-login.com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971800"/>
            <a:ext cx="283464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900" b="1">
                <a:solidFill>
                  <a:srgbClr val="F5F8FC"/>
                </a:solidFill>
                <a:latin typeface="Aptos"/>
              </a:rPr>
              <a:t>Sign in to continue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65960" y="3566160"/>
            <a:ext cx="3566160" cy="438912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3657600"/>
            <a:ext cx="31546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AB8CC"/>
                </a:solidFill>
                <a:latin typeface="Aptos"/>
              </a:rPr>
              <a:t>Email or username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4133087"/>
            <a:ext cx="3566160" cy="438912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48840" y="4224528"/>
            <a:ext cx="31546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AB8CC"/>
                </a:solidFill>
                <a:latin typeface="Aptos"/>
              </a:rPr>
              <a:t>Password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440680"/>
            <a:ext cx="210312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F7BF4A"/>
                </a:solidFill>
                <a:latin typeface="Aptos"/>
              </a:rPr>
              <a:t>VERIFY THE 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715000"/>
            <a:ext cx="56692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0">
                <a:solidFill>
                  <a:srgbClr val="AAB8CC"/>
                </a:solidFill>
                <a:latin typeface="Aptos"/>
              </a:rPr>
              <a:t>Misspellings  •  Extra subdomains  •  Unexpected domain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1417320"/>
            <a:ext cx="4023360" cy="4389120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1737360"/>
            <a:ext cx="2743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37D3D2"/>
                </a:solidFill>
                <a:latin typeface="Aptos"/>
              </a:rPr>
              <a:t>4-POINT URL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240280"/>
            <a:ext cx="3154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•  Read the domain carefully.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834640"/>
            <a:ext cx="3154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•  Be cautious with look-alike spellings.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429000"/>
            <a:ext cx="3154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•  Do not trust a padlock alone.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4023360"/>
            <a:ext cx="315468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0">
                <a:solidFill>
                  <a:srgbClr val="F5F8FC"/>
                </a:solidFill>
                <a:latin typeface="Aptos"/>
              </a:rPr>
              <a:t>•  When unsure, open the service directly.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892040"/>
            <a:ext cx="41148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43CC84"/>
                </a:solidFill>
                <a:latin typeface="Aptos"/>
              </a:rPr>
              <a:t>TIP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4828032"/>
            <a:ext cx="2743200" cy="5943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5F8FC"/>
                </a:solidFill>
                <a:latin typeface="Aptos"/>
              </a:rPr>
              <a:t>Never enter a password just because a page asks for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6510528"/>
            <a:ext cx="6400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AAB8CC"/>
                </a:solidFill>
                <a:latin typeface="Aptos"/>
              </a:rPr>
              <a:t>PHISHING AWARENESS  |  CYBERSECURITY TRAINING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510528"/>
            <a:ext cx="33375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37D3D2"/>
                </a:solidFill>
                <a:latin typeface="Aptos"/>
              </a:rPr>
              <a:t>Pause. Inspect. Verify.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04  Social engineering: the human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698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Attackers exploit trust, emotion, authority, and timing.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200" b="1">
                <a:solidFill>
                  <a:srgbClr val="37D3D2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383280" cy="1691640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673351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55B5B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636776"/>
            <a:ext cx="25603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Urgency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67128"/>
            <a:ext cx="2980944" cy="8686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AB8CC"/>
                </a:solidFill>
                <a:latin typeface="Aptos"/>
              </a:rPr>
              <a:t>“Act now or your account will close.”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508760"/>
            <a:ext cx="3383280" cy="1691640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73351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7BF4A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636776"/>
            <a:ext cx="25603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167128"/>
            <a:ext cx="2980944" cy="8686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AB8CC"/>
                </a:solidFill>
                <a:latin typeface="Aptos"/>
              </a:rPr>
              <a:t>Pretending to be a boss, bank, IT team, or official.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1508760"/>
            <a:ext cx="3383280" cy="1691640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673351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9D6FFF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05672" y="1636776"/>
            <a:ext cx="25603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Fear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8472" y="2167128"/>
            <a:ext cx="2980944" cy="8686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AB8CC"/>
                </a:solidFill>
                <a:latin typeface="Aptos"/>
              </a:rPr>
              <a:t>Threats of penalties, security alerts, or lost access.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66160"/>
            <a:ext cx="3383280" cy="1691640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730752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3CC84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3694176"/>
            <a:ext cx="25603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Reward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224528"/>
            <a:ext cx="2980944" cy="8686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AB8CC"/>
                </a:solidFill>
                <a:latin typeface="Aptos"/>
              </a:rPr>
              <a:t>Fake prizes, refunds, coupons, or job opportunities.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3566160"/>
            <a:ext cx="3383280" cy="1691640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3730752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37D3D2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3694176"/>
            <a:ext cx="25603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Curiosity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224528"/>
            <a:ext cx="2980944" cy="8686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AB8CC"/>
                </a:solidFill>
                <a:latin typeface="Aptos"/>
              </a:rPr>
              <a:t>Unexpected documents, photos, invoices, or links.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47304" y="3566160"/>
            <a:ext cx="3383280" cy="1691640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48472" y="3730752"/>
            <a:ext cx="4572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87EFF"/>
                </a:solidFill>
                <a:latin typeface="Aptos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05672" y="3694176"/>
            <a:ext cx="256032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600" b="1">
                <a:solidFill>
                  <a:srgbClr val="F5F8FC"/>
                </a:solidFill>
                <a:latin typeface="Aptos"/>
              </a:rPr>
              <a:t>Impersonation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4224528"/>
            <a:ext cx="2980944" cy="8686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AB8CC"/>
                </a:solidFill>
                <a:latin typeface="Aptos"/>
              </a:rPr>
              <a:t>Using familiar names, logos, or copied conversation style.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" y="6510528"/>
            <a:ext cx="6400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AAB8CC"/>
                </a:solidFill>
                <a:latin typeface="Aptos"/>
              </a:rPr>
              <a:t>PHISHING AWARENESS  |  CYBERSECURITY TRAINING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6510528"/>
            <a:ext cx="33375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37D3D2"/>
                </a:solidFill>
                <a:latin typeface="Aptos"/>
              </a:rPr>
              <a:t>Pause. Inspect. Verify.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05  Real-world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698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A simple scenario showing how one click can become an account takeover.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200" b="1">
                <a:solidFill>
                  <a:srgbClr val="37D3D2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835640" cy="4526280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685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55B5B"/>
                </a:solidFill>
                <a:latin typeface="Aptos"/>
              </a:rPr>
              <a:t>09:12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73736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Message arrives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737360"/>
            <a:ext cx="7086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“Unusual sign-in detected. Verify now.”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685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7BF4A"/>
                </a:solidFill>
                <a:latin typeface="Aptos"/>
              </a:rPr>
              <a:t>09:14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69748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User clicks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97480"/>
            <a:ext cx="7086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A convincing login page opens.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57600"/>
            <a:ext cx="685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F55B5B"/>
                </a:solidFill>
                <a:latin typeface="Aptos"/>
              </a:rPr>
              <a:t>09:15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65760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Credentials entered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657600"/>
            <a:ext cx="7086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Username and password are submitted to the attacker.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17720"/>
            <a:ext cx="685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9D6FFF"/>
                </a:solidFill>
                <a:latin typeface="Aptos"/>
              </a:rPr>
              <a:t>09:16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617720"/>
            <a:ext cx="18288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Second-stage abuse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617720"/>
            <a:ext cx="708660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The attacker may attempt account access or reuse stolen credentials.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532120"/>
            <a:ext cx="64008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37D3D2"/>
                </a:solidFill>
                <a:latin typeface="Aptos"/>
              </a:rPr>
              <a:t>LESSON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468112"/>
            <a:ext cx="905256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Build a habit of independent verification instead of relying on appearance alone.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6510528"/>
            <a:ext cx="6400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AAB8CC"/>
                </a:solidFill>
                <a:latin typeface="Aptos"/>
              </a:rPr>
              <a:t>PHISHING AWARENESS  |  CYBERSECURITY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6510528"/>
            <a:ext cx="33375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37D3D2"/>
                </a:solidFill>
                <a:latin typeface="Aptos"/>
              </a:rPr>
              <a:t>Pause. Inspect. Verify.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06  Your anti-phishing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698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Five habits that reduce risk in everyday work and personal 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200" b="1">
                <a:solidFill>
                  <a:srgbClr val="37D3D2"/>
                </a:solidFill>
                <a:latin typeface="Aptos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1938528" cy="3383280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37D3D2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157276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F5F8FC"/>
                </a:solidFill>
                <a:latin typeface="Aptos"/>
              </a:rPr>
              <a:t>PAUSE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246120"/>
            <a:ext cx="141732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AAB8CC"/>
                </a:solidFill>
                <a:latin typeface="Aptos"/>
              </a:rPr>
              <a:t>Do not act under pressure.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98648" y="1691640"/>
            <a:ext cx="1938528" cy="3383280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81528" y="196596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43CC84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81528" y="2514600"/>
            <a:ext cx="157276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F5F8FC"/>
                </a:solidFill>
                <a:latin typeface="Aptos"/>
              </a:rPr>
              <a:t>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3246120"/>
            <a:ext cx="141732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AAB8CC"/>
                </a:solidFill>
                <a:latin typeface="Aptos"/>
              </a:rPr>
              <a:t>Use a known website, app, or contact.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11496" y="1691640"/>
            <a:ext cx="1938528" cy="3383280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94376" y="196596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7BF4A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4376" y="2514600"/>
            <a:ext cx="157276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F5F8FC"/>
                </a:solidFill>
                <a:latin typeface="Aptos"/>
              </a:rPr>
              <a:t>INSPECT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67528" y="3246120"/>
            <a:ext cx="141732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AAB8CC"/>
                </a:solidFill>
                <a:latin typeface="Aptos"/>
              </a:rPr>
              <a:t>Check sender, URL, attachment, and request.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24344" y="1691640"/>
            <a:ext cx="1938528" cy="3383280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3" y="196596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9D6FFF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7223" y="2514600"/>
            <a:ext cx="157276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F5F8FC"/>
                </a:solidFill>
                <a:latin typeface="Aptos"/>
              </a:rPr>
              <a:t>PROTECT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0375" y="3246120"/>
            <a:ext cx="141732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AAB8CC"/>
                </a:solidFill>
                <a:latin typeface="Aptos"/>
              </a:rPr>
              <a:t>Use MFA and unique passwords.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37192" y="1691640"/>
            <a:ext cx="1938528" cy="3383280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0072" y="1965960"/>
            <a:ext cx="5029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1">
                <a:solidFill>
                  <a:srgbClr val="F55B5B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0072" y="2514600"/>
            <a:ext cx="1572768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2000" b="1">
                <a:solidFill>
                  <a:srgbClr val="F5F8FC"/>
                </a:solidFill>
                <a:latin typeface="Aptos"/>
              </a:rPr>
              <a:t>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3224" y="3246120"/>
            <a:ext cx="1417320" cy="9144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200" b="0">
                <a:solidFill>
                  <a:srgbClr val="AAB8CC"/>
                </a:solidFill>
                <a:latin typeface="Aptos"/>
              </a:rPr>
              <a:t>Alert your organization or service provider.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440680"/>
            <a:ext cx="91440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000" b="1">
                <a:solidFill>
                  <a:srgbClr val="37D3D2"/>
                </a:solidFill>
                <a:latin typeface="Aptos"/>
              </a:rPr>
              <a:t>REMEMBER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5376672"/>
            <a:ext cx="960120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If a request involves money, credentials, or sensitive data, verify it through a separate channel.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" y="6510528"/>
            <a:ext cx="6400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AAB8CC"/>
                </a:solidFill>
                <a:latin typeface="Aptos"/>
              </a:rPr>
              <a:t>PHISHING AWARENESS  |  CYBERSECURITY TRAINING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6510528"/>
            <a:ext cx="33375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37D3D2"/>
                </a:solidFill>
                <a:latin typeface="Aptos"/>
              </a:rPr>
              <a:t>Pause. Inspect. Verify.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07  Mini quiz — can you spot the trap?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698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Choose the safest response for each situation.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200" b="1">
                <a:solidFill>
                  <a:srgbClr val="37D3D2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10835640" cy="1325880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37D3D2"/>
                </a:solidFill>
                <a:latin typeface="Aptos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490472"/>
            <a:ext cx="93726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An email says your account will be locked in 10 minutes.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11680"/>
            <a:ext cx="84124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AB8CC"/>
                </a:solidFill>
                <a:latin typeface="Aptos"/>
              </a:rPr>
              <a:t>A  Click immediately    B  Open the official app/site separately    C  Reply with your password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1947672"/>
            <a:ext cx="1234440" cy="347472"/>
          </a:xfrm>
          <a:prstGeom prst="round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21240" y="1975103"/>
            <a:ext cx="12344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43CC84"/>
                </a:solidFill>
                <a:latin typeface="Aptos"/>
              </a:rPr>
              <a:t>ANSWER: 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53512"/>
            <a:ext cx="10835640" cy="1325880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82112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37D3D2"/>
                </a:solidFill>
                <a:latin typeface="Aptos"/>
              </a:rPr>
              <a:t>Q2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18104"/>
            <a:ext cx="93726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A message from “IT Support” asks for your MFA code.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639312"/>
            <a:ext cx="84124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AB8CC"/>
                </a:solidFill>
                <a:latin typeface="Aptos"/>
              </a:rPr>
              <a:t>A  Share it    B  Forward it    C  Verify through a known support channel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921240" y="3575304"/>
            <a:ext cx="1234440" cy="347472"/>
          </a:xfrm>
          <a:prstGeom prst="round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3602736"/>
            <a:ext cx="12344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43CC84"/>
                </a:solidFill>
                <a:latin typeface="Aptos"/>
              </a:rPr>
              <a:t>ANSWER: 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81144"/>
            <a:ext cx="10835640" cy="1325880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09744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1">
                <a:solidFill>
                  <a:srgbClr val="37D3D2"/>
                </a:solidFill>
                <a:latin typeface="Aptos"/>
              </a:rPr>
              <a:t>Q3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745736"/>
            <a:ext cx="937260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A login URL looks almost right but has an unfamiliar domain.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266944"/>
            <a:ext cx="84124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100" b="0">
                <a:solidFill>
                  <a:srgbClr val="AAB8CC"/>
                </a:solidFill>
                <a:latin typeface="Aptos"/>
              </a:rPr>
              <a:t>A  Enter the password    B  Close it and navigate directly to the service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21240" y="5202936"/>
            <a:ext cx="1234440" cy="347472"/>
          </a:xfrm>
          <a:prstGeom prst="round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21240" y="5230368"/>
            <a:ext cx="1234440" cy="2286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900" b="1">
                <a:solidFill>
                  <a:srgbClr val="43CC84"/>
                </a:solidFill>
                <a:latin typeface="Aptos"/>
              </a:rPr>
              <a:t>ANSWER: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6510528"/>
            <a:ext cx="6400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AAB8CC"/>
                </a:solidFill>
                <a:latin typeface="Aptos"/>
              </a:rPr>
              <a:t>PHISHING AWARENESS  |  CYBERSECURITY TRAINING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6510528"/>
            <a:ext cx="33375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37D3D2"/>
                </a:solidFill>
                <a:latin typeface="Aptos"/>
              </a:rPr>
              <a:t>Pause. Inspect. Verify.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7D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9875520" cy="502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2800" b="1">
                <a:solidFill>
                  <a:srgbClr val="F5F8FC"/>
                </a:solidFill>
                <a:latin typeface="Aptos"/>
              </a:rPr>
              <a:t>08  Final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41832"/>
            <a:ext cx="106984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200" b="0">
                <a:solidFill>
                  <a:srgbClr val="AAB8CC"/>
                </a:solidFill>
                <a:latin typeface="Aptos"/>
              </a:rPr>
              <a:t>Make these questions automatic before you click, sign in, or share.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438912"/>
            <a:ext cx="50292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1200" b="1">
                <a:solidFill>
                  <a:srgbClr val="37D3D2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6720840" cy="4526280"/>
          </a:xfrm>
          <a:prstGeom prst="roundRect">
            <a:avLst/>
          </a:prstGeom>
          <a:solidFill>
            <a:srgbClr val="14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43CC84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783080"/>
            <a:ext cx="54406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Was I expecting this message?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04872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43CC84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404872"/>
            <a:ext cx="54406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Do I recognize the sender address?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26664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43CC84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026664"/>
            <a:ext cx="54406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Does the request create unusual urgency?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48456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43CC84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648456"/>
            <a:ext cx="54406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Where does the link actually go?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270248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43CC84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270248"/>
            <a:ext cx="54406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Can I verify the request independently?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892040"/>
            <a:ext cx="320040" cy="2743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500" b="1">
                <a:solidFill>
                  <a:srgbClr val="43CC84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4892040"/>
            <a:ext cx="544068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Would MFA, a password manager, or reporting help?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6679" y="1417320"/>
            <a:ext cx="3794760" cy="4526280"/>
          </a:xfrm>
          <a:prstGeom prst="round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1828800"/>
            <a:ext cx="3017520" cy="32004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100" b="1">
                <a:solidFill>
                  <a:srgbClr val="37D3D2"/>
                </a:solidFill>
                <a:latin typeface="Aptos"/>
              </a:rPr>
              <a:t>THE GOLDEN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514600"/>
            <a:ext cx="3154680" cy="164592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3000" b="1">
                <a:solidFill>
                  <a:srgbClr val="F5F8FC"/>
                </a:solidFill>
                <a:latin typeface="Aptos"/>
              </a:rPr>
              <a:t>STOP.
CHECK.
VERIFY.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526280"/>
            <a:ext cx="2971800" cy="6400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400" b="0">
                <a:solidFill>
                  <a:srgbClr val="AAB8CC"/>
                </a:solidFill>
                <a:latin typeface="Aptos"/>
              </a:rPr>
              <a:t>One extra minute can prevent
hours of recovery.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5532120"/>
            <a:ext cx="2468880" cy="365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/>
            <a:r>
              <a:rPr sz="1800" b="1">
                <a:solidFill>
                  <a:srgbClr val="37D3D2"/>
                </a:solidFill>
                <a:latin typeface="Aptos"/>
              </a:rPr>
              <a:t>THANK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6510528"/>
            <a:ext cx="640080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800" b="0">
                <a:solidFill>
                  <a:srgbClr val="AAB8CC"/>
                </a:solidFill>
                <a:latin typeface="Aptos"/>
              </a:rPr>
              <a:t>PHISHING AWARENESS  |  CYBERSECURITY TRAINING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6510528"/>
            <a:ext cx="3337560" cy="1828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rPr sz="800" b="1">
                <a:solidFill>
                  <a:srgbClr val="37D3D2"/>
                </a:solidFill>
                <a:latin typeface="Aptos"/>
              </a:rPr>
              <a:t>Pause. Inspect. Verify.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